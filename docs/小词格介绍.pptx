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4" d="100"/>
          <a:sy n="114" d="100"/>
        </p:scale>
        <p:origin x="696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144000" y="-1828800"/>
            <a:ext cx="5486400" cy="548640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058400" y="3657600"/>
            <a:ext cx="2743200" cy="2743200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0" y="201168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FFFFFF"/>
                </a:solidFill>
                <a:latin typeface="Microsoft YaHei"/>
              </a:defRPr>
            </a:pPr>
            <a:r>
              <a:t>小词格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818CF8"/>
                </a:solidFill>
                <a:latin typeface="Microsoft YaHei"/>
              </a:defRPr>
            </a:pPr>
            <a:r>
              <a:t>AI 歌词生成器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3749039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Microsoft YaHei"/>
              </a:defRPr>
            </a:pPr>
            <a:r>
              <a:t>纯大模型驱动 · 多轮自我迭代 · 对抗评审修改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57607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作者哔哩哔哩：space.bilibili.com/527121484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62179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2026  ·  Windows 桌面版 v1.0.0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48640"/>
            <a:ext cx="73152" cy="54864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icrosoft YaHei"/>
              </a:defRPr>
            </a:pPr>
            <a:r>
              <a:t>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0"/>
            <a:ext cx="11064240" cy="300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303520" cy="1005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18CF8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6916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项目概述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是什么 · 解决什么问题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554480"/>
            <a:ext cx="5303520" cy="1005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169164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18CF8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6916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核心架构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1031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多智能体协作流程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743200"/>
            <a:ext cx="5303520" cy="1005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288036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18CF8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28803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词格系统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2918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0 / 1 / / / + 标记体系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2743200"/>
            <a:ext cx="5303520" cy="1005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0" y="288036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18CF8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28803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英语歌词模式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32918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多音节词适配方案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931920"/>
            <a:ext cx="5303520" cy="1005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40690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18CF8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40690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评审严格度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44805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动态覆盖 Critic 提示词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3931920"/>
            <a:ext cx="5303520" cy="1005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83680" y="40690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18CF8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40690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技术实现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44805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Next.js · SSE · 重试机制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120640"/>
            <a:ext cx="5303520" cy="1005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52578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18CF8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5920" y="5257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桌面安装包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45920" y="5669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Electron 打包方案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5120640"/>
            <a:ext cx="5303520" cy="1005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83680" y="52578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18CF8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5257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演示与总结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5669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实机截图 · 未来规划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48640"/>
            <a:ext cx="73152" cy="54864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项目概述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icrosoft YaHei"/>
              </a:defRPr>
            </a:pPr>
            <a:r>
              <a:t>PROJECT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0"/>
            <a:ext cx="11064240" cy="300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01-main-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6858000" cy="4389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80960" y="173736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18CF8"/>
                </a:solidFill>
                <a:latin typeface="Microsoft YaHei"/>
              </a:defRPr>
            </a:pPr>
            <a:r>
              <a:t>一句话介绍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228600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基于多智能体对抗式迭代的 AI 歌词生成器，支持中文/英文，严格遵循词格约束。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3383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18CF8"/>
                </a:solidFill>
                <a:latin typeface="Microsoft YaHei"/>
              </a:defRPr>
            </a:pPr>
            <a:r>
              <a:t>核心特性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384048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818CF8"/>
                </a:solidFill>
                <a:latin typeface="Microsoft YaHei"/>
              </a:rPr>
              <a:t>● </a:t>
            </a:r>
            <a:r>
              <a:rPr sz="1300">
                <a:solidFill>
                  <a:srgbClr val="FFFFFF"/>
                </a:solidFill>
                <a:latin typeface="Microsoft YaHei"/>
              </a:rPr>
              <a:t>四个 AI 智能体协作生成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818CF8"/>
                </a:solidFill>
                <a:latin typeface="Microsoft YaHei"/>
              </a:rPr>
              <a:t>● </a:t>
            </a:r>
            <a:r>
              <a:rPr sz="1300">
                <a:solidFill>
                  <a:srgbClr val="FFFFFF"/>
                </a:solidFill>
                <a:latin typeface="Microsoft YaHei"/>
              </a:rPr>
              <a:t>逐字匹配词格，支持延音 (+)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818CF8"/>
                </a:solidFill>
                <a:latin typeface="Microsoft YaHei"/>
              </a:rPr>
              <a:t>● </a:t>
            </a:r>
            <a:r>
              <a:rPr sz="1300">
                <a:solidFill>
                  <a:srgbClr val="FFFFFF"/>
                </a:solidFill>
                <a:latin typeface="Microsoft YaHei"/>
              </a:rPr>
              <a:t>英语歌词按音节数校验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818CF8"/>
                </a:solidFill>
                <a:latin typeface="Microsoft YaHei"/>
              </a:rPr>
              <a:t>● </a:t>
            </a:r>
            <a:r>
              <a:rPr sz="1300">
                <a:solidFill>
                  <a:srgbClr val="FFFFFF"/>
                </a:solidFill>
                <a:latin typeface="Microsoft YaHei"/>
              </a:rPr>
              <a:t>评审严格度 1-10 级可调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818CF8"/>
                </a:solidFill>
                <a:latin typeface="Microsoft YaHei"/>
              </a:rPr>
              <a:t>● </a:t>
            </a:r>
            <a:r>
              <a:rPr sz="1300">
                <a:solidFill>
                  <a:srgbClr val="FFFFFF"/>
                </a:solidFill>
                <a:latin typeface="Microsoft YaHei"/>
              </a:rPr>
              <a:t>SSE 流式实时进度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818CF8"/>
                </a:solidFill>
                <a:latin typeface="Microsoft YaHei"/>
              </a:rPr>
              <a:t>● </a:t>
            </a:r>
            <a:r>
              <a:rPr sz="1300">
                <a:solidFill>
                  <a:srgbClr val="FFFFFF"/>
                </a:solidFill>
                <a:latin typeface="Microsoft YaHei"/>
              </a:rPr>
              <a:t>Windows 桌面安装包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48640"/>
            <a:ext cx="73152" cy="54864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核心架构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icrosoft YaHei"/>
              </a:defRPr>
            </a:pPr>
            <a:r>
              <a:t>多智能体对抗式迭代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0"/>
            <a:ext cx="11064240" cy="300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269748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2697480" cy="800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18CF8"/>
                </a:solidFill>
                <a:latin typeface="Microsoft YaHei"/>
              </a:defRPr>
            </a:pPr>
            <a:r>
              <a:t>Generator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生成器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26080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根据提示词与词格</a:t>
            </a:r>
            <a:br/>
            <a:r>
              <a:t>生成初始歌词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828800"/>
            <a:ext cx="269748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29000" y="1828800"/>
            <a:ext cx="2697480" cy="800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11880" y="205740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B923C"/>
                </a:solidFill>
                <a:latin typeface="Microsoft YaHei"/>
              </a:defRPr>
            </a:pPr>
            <a:r>
              <a:t>Critic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51460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评审员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926080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七维度打分</a:t>
            </a:r>
            <a:br/>
            <a:r>
              <a:t>标记问题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1828800"/>
            <a:ext cx="269748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09359" y="1828800"/>
            <a:ext cx="2697480" cy="80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39" y="205740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D399"/>
                </a:solidFill>
                <a:latin typeface="Microsoft YaHei"/>
              </a:defRPr>
            </a:pPr>
            <a:r>
              <a:t>Reviser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39" y="251460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修改器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39" y="2926080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按评审意见修改</a:t>
            </a:r>
            <a:br/>
            <a:r>
              <a:t>严格保持字数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89719" y="1828800"/>
            <a:ext cx="269748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189719" y="1828800"/>
            <a:ext cx="2697480" cy="8000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72599" y="205740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472B6"/>
                </a:solidFill>
                <a:latin typeface="Microsoft YaHei"/>
              </a:defRPr>
            </a:pPr>
            <a:r>
              <a:t>Interpreter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599" y="251460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词解师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599" y="2926080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生成词解与</a:t>
            </a:r>
            <a:br/>
            <a:r>
              <a:t>风格关键词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3246120" y="2788920"/>
            <a:ext cx="228600" cy="274320"/>
          </a:xfrm>
          <a:prstGeom prst="right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ight Arrow 26"/>
          <p:cNvSpPr/>
          <p:nvPr/>
        </p:nvSpPr>
        <p:spPr>
          <a:xfrm>
            <a:off x="6126479" y="2788920"/>
            <a:ext cx="228600" cy="274320"/>
          </a:xfrm>
          <a:prstGeom prst="right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ight Arrow 27"/>
          <p:cNvSpPr/>
          <p:nvPr/>
        </p:nvSpPr>
        <p:spPr>
          <a:xfrm>
            <a:off x="9006840" y="2788920"/>
            <a:ext cx="228600" cy="274320"/>
          </a:xfrm>
          <a:prstGeom prst="right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" y="4389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818CF8"/>
                </a:solidFill>
                <a:latin typeface="Microsoft YaHei"/>
              </a:defRPr>
            </a:pPr>
            <a:r>
              <a:t>生成 → 评审 → 修改 → 达标？ → 词解输出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8463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818CF8"/>
                </a:solidFill>
                <a:latin typeface="Microsoft YaHei"/>
              </a:rPr>
              <a:t>● </a:t>
            </a:r>
            <a:r>
              <a:rPr sz="1400">
                <a:solidFill>
                  <a:srgbClr val="FFFFFF"/>
                </a:solidFill>
                <a:latin typeface="Microsoft YaHei"/>
              </a:rPr>
              <a:t>内容迭代：最多 3 轮（生成→评审→修改 主循环）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818CF8"/>
                </a:solidFill>
                <a:latin typeface="Microsoft YaHei"/>
              </a:rPr>
              <a:t>● </a:t>
            </a:r>
            <a:r>
              <a:rPr sz="1400">
                <a:solidFill>
                  <a:srgbClr val="FFFFFF"/>
                </a:solidFill>
                <a:latin typeface="Microsoft YaHei"/>
              </a:rPr>
              <a:t>字数修复：纯字数问题额外最多 5 轮，不计入主迭代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818CF8"/>
                </a:solidFill>
                <a:latin typeface="Microsoft YaHei"/>
              </a:rPr>
              <a:t>● </a:t>
            </a:r>
            <a:r>
              <a:rPr sz="1400">
                <a:solidFill>
                  <a:srgbClr val="FFFFFF"/>
                </a:solidFill>
                <a:latin typeface="Microsoft YaHei"/>
              </a:rPr>
              <a:t>自动重试：LLM 调用超时自动重试最多 6 次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818CF8"/>
                </a:solidFill>
                <a:latin typeface="Microsoft YaHei"/>
              </a:rPr>
              <a:t>● </a:t>
            </a:r>
            <a:r>
              <a:rPr sz="1400">
                <a:solidFill>
                  <a:srgbClr val="FFFFFF"/>
                </a:solidFill>
                <a:latin typeface="Microsoft YaHei"/>
              </a:rPr>
              <a:t>用户可随时：点击「停止生成」中止流程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48640"/>
            <a:ext cx="73152" cy="54864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词格系统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icrosoft YaHei"/>
              </a:defRPr>
            </a:pPr>
            <a:r>
              <a:t>高级编辑模式 · 0 / 1 / / / + 标记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0"/>
            <a:ext cx="11064240" cy="300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2217662"/>
              </p:ext>
            </p:extLst>
          </p:nvPr>
        </p:nvGraphicFramePr>
        <p:xfrm>
          <a:off x="548640" y="1645920"/>
          <a:ext cx="7315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标记</a:t>
                      </a:r>
                    </a:p>
                  </a:txBody>
                  <a:tcPr>
                    <a:solidFill>
                      <a:srgbClr val="818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含义</a:t>
                      </a:r>
                    </a:p>
                  </a:txBody>
                  <a:tcPr>
                    <a:solidFill>
                      <a:srgbClr val="818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计入字数</a:t>
                      </a:r>
                    </a:p>
                  </a:txBody>
                  <a:tcPr>
                    <a:solidFill>
                      <a:srgbClr val="818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说明</a:t>
                      </a:r>
                    </a:p>
                  </a:txBody>
                  <a:tcPr>
                    <a:solidFill>
                      <a:srgbClr val="818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  <a:latin typeface="Microsoft YaHei"/>
                        </a:rPr>
                        <a:t>0 或汉字</a:t>
                      </a:r>
                    </a:p>
                  </a:txBody>
                  <a:tcPr>
                    <a:solidFill>
                      <a:srgbClr val="2533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  <a:latin typeface="Microsoft YaHei"/>
                        </a:rPr>
                        <a:t>普通音节</a:t>
                      </a:r>
                    </a:p>
                  </a:txBody>
                  <a:tcPr>
                    <a:solidFill>
                      <a:srgbClr val="2533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  <a:latin typeface="Microsoft YaHei"/>
                        </a:rPr>
                        <a:t>✅</a:t>
                      </a:r>
                    </a:p>
                  </a:txBody>
                  <a:tcPr>
                    <a:solidFill>
                      <a:srgbClr val="2533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  <a:latin typeface="Microsoft YaHei"/>
                        </a:rPr>
                        <a:t>一个汉字 = 一个音节</a:t>
                      </a:r>
                    </a:p>
                  </a:txBody>
                  <a:tcPr>
                    <a:solidFill>
                      <a:srgbClr val="2533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94A3B8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94A3B8"/>
                          </a:solidFill>
                          <a:latin typeface="Microsoft YaHei"/>
                        </a:rPr>
                        <a:t>重音音节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94A3B8"/>
                          </a:solidFill>
                          <a:latin typeface="Microsoft YaHei"/>
                        </a:rPr>
                        <a:t>✅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94A3B8"/>
                          </a:solidFill>
                          <a:latin typeface="Microsoft YaHei"/>
                        </a:rPr>
                        <a:t>需强调的音节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  <a:latin typeface="Microsoft YaHei"/>
                        </a:rPr>
                        <a:t>/</a:t>
                      </a:r>
                    </a:p>
                  </a:txBody>
                  <a:tcPr>
                    <a:solidFill>
                      <a:srgbClr val="2533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  <a:latin typeface="Microsoft YaHei"/>
                        </a:rPr>
                        <a:t>停顿</a:t>
                      </a:r>
                    </a:p>
                  </a:txBody>
                  <a:tcPr>
                    <a:solidFill>
                      <a:srgbClr val="2533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  <a:latin typeface="Microsoft YaHei"/>
                        </a:rPr>
                        <a:t>❌</a:t>
                      </a:r>
                    </a:p>
                  </a:txBody>
                  <a:tcPr>
                    <a:solidFill>
                      <a:srgbClr val="2533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  <a:latin typeface="Microsoft YaHei"/>
                        </a:rPr>
                        <a:t>气口 / 断句</a:t>
                      </a:r>
                    </a:p>
                  </a:txBody>
                  <a:tcPr>
                    <a:solidFill>
                      <a:srgbClr val="2533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94A3B8"/>
                          </a:solidFill>
                          <a:latin typeface="Microsoft YaHei"/>
                        </a:rPr>
                        <a:t>+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94A3B8"/>
                          </a:solidFill>
                          <a:latin typeface="Microsoft YaHei"/>
                        </a:rPr>
                        <a:t>延音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solidFill>
                            <a:srgbClr val="94A3B8"/>
                          </a:solidFill>
                          <a:latin typeface="Microsoft YaHei"/>
                        </a:rPr>
                        <a:t>✅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 err="1">
                          <a:solidFill>
                            <a:srgbClr val="94A3B8"/>
                          </a:solidFill>
                          <a:latin typeface="Microsoft YaHei"/>
                        </a:rPr>
                        <a:t>拉长前一音节</a:t>
                      </a:r>
                      <a:endParaRPr sz="1400" dirty="0">
                        <a:solidFill>
                          <a:srgbClr val="94A3B8"/>
                        </a:solidFill>
                        <a:latin typeface="Microsoft YaHei"/>
                      </a:endParaRP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046720" y="744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18CF8"/>
                </a:solidFill>
                <a:latin typeface="Microsoft YaHei"/>
              </a:defRPr>
            </a:pPr>
            <a:r>
              <a:rPr dirty="0" err="1"/>
              <a:t>实机截图</a:t>
            </a:r>
            <a:endParaRPr dirty="0"/>
          </a:p>
        </p:txBody>
      </p:sp>
      <p:pic>
        <p:nvPicPr>
          <p:cNvPr id="8" name="Picture 7" descr="02-advanced-edi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1201750"/>
            <a:ext cx="3657600" cy="2743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4114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18CF8"/>
                </a:solidFill>
                <a:latin typeface="Microsoft YaHei"/>
              </a:defRPr>
            </a:pPr>
            <a:r>
              <a:t>+ 延音标记示例</a:t>
            </a:r>
          </a:p>
        </p:txBody>
      </p:sp>
      <p:pic>
        <p:nvPicPr>
          <p:cNvPr id="10" name="Picture 9" descr="03-rhythm-ta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2628" y="4171277"/>
            <a:ext cx="3545990" cy="223059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48640"/>
            <a:ext cx="73152" cy="54864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英语歌词模式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icrosoft YaHei"/>
              </a:defRPr>
            </a:pPr>
            <a:r>
              <a:t>多音节词适配 · syllable-based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0"/>
            <a:ext cx="11064240" cy="300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18CF8"/>
                </a:solidFill>
                <a:latin typeface="Microsoft YaHei"/>
              </a:defRPr>
            </a:pPr>
            <a:r>
              <a:t>模式说明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歌词用英文创作，评审 / 词解 / 修改说明仍为中文。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17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18CF8"/>
                </a:solidFill>
                <a:latin typeface="Microsoft YaHei"/>
              </a:defRPr>
            </a:pPr>
            <a:r>
              <a:t>核心规则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7472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818CF8"/>
                </a:solidFill>
                <a:latin typeface="Microsoft YaHei"/>
              </a:rPr>
              <a:t>● </a:t>
            </a:r>
            <a:r>
              <a:rPr sz="1300">
                <a:solidFill>
                  <a:srgbClr val="FFFFFF"/>
                </a:solidFill>
                <a:latin typeface="Microsoft YaHei"/>
              </a:rPr>
              <a:t>按英语音节数（syllable）匹配词格，非单词数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818CF8"/>
                </a:solidFill>
                <a:latin typeface="Microsoft YaHei"/>
              </a:rPr>
              <a:t>● </a:t>
            </a:r>
            <a:r>
              <a:rPr sz="1300">
                <a:solidFill>
                  <a:srgbClr val="FFFFFF"/>
                </a:solidFill>
                <a:latin typeface="Microsoft YaHei"/>
              </a:rPr>
              <a:t>beautiful = 3 音节（beau-ti-ful）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818CF8"/>
                </a:solidFill>
                <a:latin typeface="Microsoft YaHei"/>
              </a:rPr>
              <a:t>● </a:t>
            </a:r>
            <a:r>
              <a:rPr sz="1300">
                <a:solidFill>
                  <a:srgbClr val="FFFFFF"/>
                </a:solidFill>
                <a:latin typeface="Microsoft YaHei"/>
              </a:rPr>
              <a:t>lonely = 2 音节（one-ly）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818CF8"/>
                </a:solidFill>
                <a:latin typeface="Microsoft YaHei"/>
              </a:rPr>
              <a:t>● </a:t>
            </a:r>
            <a:r>
              <a:rPr sz="1300">
                <a:solidFill>
                  <a:srgbClr val="FFFFFF"/>
                </a:solidFill>
                <a:latin typeface="Microsoft YaHei"/>
              </a:rPr>
              <a:t>love = 1 音节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818CF8"/>
                </a:solidFill>
                <a:latin typeface="Microsoft YaHei"/>
              </a:rPr>
              <a:t>● </a:t>
            </a:r>
            <a:r>
              <a:rPr sz="1300">
                <a:solidFill>
                  <a:srgbClr val="FFFFFF"/>
                </a:solidFill>
                <a:latin typeface="Microsoft YaHei"/>
              </a:rPr>
              <a:t>押韵在英文元音层面判定（rain / pain ✓）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818CF8"/>
                </a:solidFill>
                <a:latin typeface="Microsoft YaHei"/>
              </a:rPr>
              <a:t>● </a:t>
            </a:r>
            <a:r>
              <a:rPr sz="1300">
                <a:solidFill>
                  <a:srgbClr val="FFFFFF"/>
                </a:solidFill>
                <a:latin typeface="Microsoft YaHei"/>
              </a:rPr>
              <a:t>延音拉长前词末尾元音，不得新增单词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18CF8"/>
                </a:solidFill>
                <a:latin typeface="Microsoft YaHei"/>
              </a:defRPr>
            </a:pPr>
            <a:r>
              <a:t>实机截图</a:t>
            </a:r>
          </a:p>
        </p:txBody>
      </p:sp>
      <p:pic>
        <p:nvPicPr>
          <p:cNvPr id="11" name="Picture 10" descr="04-english-m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11680"/>
            <a:ext cx="5303520" cy="411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48640"/>
            <a:ext cx="73152" cy="54864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评审严格度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icrosoft YaHei"/>
              </a:defRPr>
            </a:pPr>
            <a:r>
              <a:t>1-10 级动态覆盖 Critic 提示词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0"/>
            <a:ext cx="11064240" cy="300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E8838A6C-F3C2-4419-82B0-256729F7C578}"/>
              </a:ext>
            </a:extLst>
          </p:cNvPr>
          <p:cNvGrpSpPr/>
          <p:nvPr/>
        </p:nvGrpSpPr>
        <p:grpSpPr>
          <a:xfrm>
            <a:off x="548641" y="1737360"/>
            <a:ext cx="4800600" cy="3218960"/>
            <a:chOff x="548640" y="1737360"/>
            <a:chExt cx="11338559" cy="3200400"/>
          </a:xfrm>
        </p:grpSpPr>
        <p:sp>
          <p:nvSpPr>
            <p:cNvPr id="6" name="Rounded Rectangle 5"/>
            <p:cNvSpPr/>
            <p:nvPr/>
          </p:nvSpPr>
          <p:spPr>
            <a:xfrm>
              <a:off x="548640" y="1737360"/>
              <a:ext cx="2697480" cy="3200400"/>
            </a:xfrm>
            <a:prstGeom prst="roundRect">
              <a:avLst/>
            </a:prstGeom>
            <a:solidFill>
              <a:srgbClr val="1E293B"/>
            </a:solidFill>
            <a:ln w="19050">
              <a:solidFill>
                <a:srgbClr val="34D39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40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548640" y="1737360"/>
              <a:ext cx="2697480" cy="80000"/>
            </a:xfrm>
            <a:prstGeom prst="rect">
              <a:avLst/>
            </a:prstGeom>
            <a:solidFill>
              <a:srgbClr val="34D39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40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31520" y="1965960"/>
              <a:ext cx="2331719" cy="3060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800" b="1">
                  <a:solidFill>
                    <a:srgbClr val="34D399"/>
                  </a:solidFill>
                  <a:latin typeface="Microsoft YaHei"/>
                </a:defRPr>
              </a:pPr>
              <a:r>
                <a:rPr sz="1400"/>
                <a:t>1-3 宽松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31520" y="2377440"/>
              <a:ext cx="2331719" cy="2601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300" b="0">
                  <a:solidFill>
                    <a:srgbClr val="94A3B8"/>
                  </a:solidFill>
                  <a:latin typeface="Microsoft YaHei"/>
                </a:defRPr>
              </a:pPr>
              <a:r>
                <a:rPr sz="1100"/>
                <a:t>鼓励为主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31520" y="2788920"/>
              <a:ext cx="2331719" cy="7344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0">
                  <a:solidFill>
                    <a:srgbClr val="FFFFFF"/>
                  </a:solidFill>
                  <a:latin typeface="Microsoft YaHei"/>
                </a:defRPr>
              </a:pPr>
              <a:r>
                <a:rPr sz="1050"/>
                <a:t>单句不符 ≤ 8 分</a:t>
              </a:r>
              <a:br>
                <a:rPr sz="1050"/>
              </a:br>
              <a:r>
                <a:rPr sz="1050"/>
                <a:t>平庸 ≤ 8 分</a:t>
              </a:r>
              <a:br>
                <a:rPr sz="1050"/>
              </a:br>
              <a:r>
                <a:rPr sz="1050"/>
                <a:t>套话 ≤ 6 分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31520" y="4206240"/>
              <a:ext cx="2331719" cy="4131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1">
                  <a:solidFill>
                    <a:srgbClr val="34D399"/>
                  </a:solidFill>
                  <a:latin typeface="Microsoft YaHei"/>
                </a:defRPr>
              </a:pPr>
              <a:r>
                <a:rPr sz="1000"/>
                <a:t>passed: 达标即可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3429000" y="1737360"/>
              <a:ext cx="2697480" cy="3200400"/>
            </a:xfrm>
            <a:prstGeom prst="roundRect">
              <a:avLst/>
            </a:prstGeom>
            <a:solidFill>
              <a:srgbClr val="1E293B"/>
            </a:solidFill>
            <a:ln w="19050">
              <a:solidFill>
                <a:srgbClr val="818CF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40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429000" y="1737360"/>
              <a:ext cx="2697480" cy="80000"/>
            </a:xfrm>
            <a:prstGeom prst="rect">
              <a:avLst/>
            </a:prstGeom>
            <a:solidFill>
              <a:srgbClr val="818CF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40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611879" y="1965960"/>
              <a:ext cx="2331719" cy="3060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800" b="1">
                  <a:solidFill>
                    <a:srgbClr val="818CF8"/>
                  </a:solidFill>
                  <a:latin typeface="Microsoft YaHei"/>
                </a:defRPr>
              </a:pPr>
              <a:r>
                <a:rPr sz="1400"/>
                <a:t>4-6 标准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611879" y="2377440"/>
              <a:ext cx="2331719" cy="2601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300" b="0">
                  <a:solidFill>
                    <a:srgbClr val="94A3B8"/>
                  </a:solidFill>
                  <a:latin typeface="Microsoft YaHei"/>
                </a:defRPr>
              </a:pPr>
              <a:r>
                <a:rPr sz="1100"/>
                <a:t>客观评审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611879" y="2788920"/>
              <a:ext cx="2331719" cy="7344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0">
                  <a:solidFill>
                    <a:srgbClr val="FFFFFF"/>
                  </a:solidFill>
                  <a:latin typeface="Microsoft YaHei"/>
                </a:defRPr>
              </a:pPr>
              <a:r>
                <a:rPr sz="1050"/>
                <a:t>单句不符 ≤ 6 分</a:t>
              </a:r>
              <a:br>
                <a:rPr sz="1050"/>
              </a:br>
              <a:r>
                <a:rPr sz="1050"/>
                <a:t>平庸 ≤ 7 分</a:t>
              </a:r>
              <a:br>
                <a:rPr sz="1050"/>
              </a:br>
              <a:r>
                <a:rPr sz="1050"/>
                <a:t>套话 ≤ 5 分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611879" y="4206240"/>
              <a:ext cx="2331719" cy="4131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1">
                  <a:solidFill>
                    <a:srgbClr val="818CF8"/>
                  </a:solidFill>
                  <a:latin typeface="Microsoft YaHei"/>
                </a:defRPr>
              </a:pPr>
              <a:r>
                <a:rPr sz="1000"/>
                <a:t>passed: 按阈值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6309359" y="1737360"/>
              <a:ext cx="2697480" cy="3200400"/>
            </a:xfrm>
            <a:prstGeom prst="roundRect">
              <a:avLst/>
            </a:prstGeom>
            <a:solidFill>
              <a:srgbClr val="1E293B"/>
            </a:solidFill>
            <a:ln w="19050">
              <a:solidFill>
                <a:srgbClr val="FB92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400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6309359" y="1737360"/>
              <a:ext cx="2697480" cy="80000"/>
            </a:xfrm>
            <a:prstGeom prst="rect">
              <a:avLst/>
            </a:prstGeom>
            <a:solidFill>
              <a:srgbClr val="FB923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40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492238" y="1965960"/>
              <a:ext cx="2331719" cy="3060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800" b="1">
                  <a:solidFill>
                    <a:srgbClr val="FB923C"/>
                  </a:solidFill>
                  <a:latin typeface="Microsoft YaHei"/>
                </a:defRPr>
              </a:pPr>
              <a:r>
                <a:rPr sz="1400"/>
                <a:t>7-8 严格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492238" y="2377440"/>
              <a:ext cx="2331719" cy="2601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300" b="0">
                  <a:solidFill>
                    <a:srgbClr val="94A3B8"/>
                  </a:solidFill>
                  <a:latin typeface="Microsoft YaHei"/>
                </a:defRPr>
              </a:pPr>
              <a:r>
                <a:rPr sz="1100"/>
                <a:t>挑剔制作人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492238" y="2788920"/>
              <a:ext cx="2331719" cy="7344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0">
                  <a:solidFill>
                    <a:srgbClr val="FFFFFF"/>
                  </a:solidFill>
                  <a:latin typeface="Microsoft YaHei"/>
                </a:defRPr>
              </a:pPr>
              <a:r>
                <a:rPr sz="1050"/>
                <a:t>单句不符 ≤ 4 分</a:t>
              </a:r>
              <a:br>
                <a:rPr sz="1050"/>
              </a:br>
              <a:r>
                <a:rPr sz="1050"/>
                <a:t>平庸 ≤ 6 分</a:t>
              </a:r>
              <a:br>
                <a:rPr sz="1050"/>
              </a:br>
              <a:r>
                <a:rPr sz="1050"/>
                <a:t>套话 ≤ 4 分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492238" y="4206240"/>
              <a:ext cx="2331719" cy="5508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1">
                  <a:solidFill>
                    <a:srgbClr val="FB923C"/>
                  </a:solidFill>
                  <a:latin typeface="Microsoft YaHei"/>
                </a:defRPr>
              </a:pPr>
              <a:r>
                <a:rPr sz="1000"/>
                <a:t>passed: 有 high issue 不通过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9189719" y="1737360"/>
              <a:ext cx="2697480" cy="3200400"/>
            </a:xfrm>
            <a:prstGeom prst="roundRect">
              <a:avLst/>
            </a:prstGeom>
            <a:solidFill>
              <a:srgbClr val="1E293B"/>
            </a:solidFill>
            <a:ln w="19050">
              <a:solidFill>
                <a:srgbClr val="EF444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400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9189719" y="1737360"/>
              <a:ext cx="2697480" cy="80000"/>
            </a:xfrm>
            <a:prstGeom prst="rect">
              <a:avLst/>
            </a:prstGeom>
            <a:solidFill>
              <a:srgbClr val="EF444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40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9372600" y="1965960"/>
              <a:ext cx="2331719" cy="52020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800" b="1">
                  <a:solidFill>
                    <a:srgbClr val="EF4444"/>
                  </a:solidFill>
                  <a:latin typeface="Microsoft YaHei"/>
                </a:defRPr>
              </a:pPr>
              <a:r>
                <a:rPr sz="1400"/>
                <a:t>9-10 极严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9372600" y="2377440"/>
              <a:ext cx="2331719" cy="2601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300" b="0">
                  <a:solidFill>
                    <a:srgbClr val="94A3B8"/>
                  </a:solidFill>
                  <a:latin typeface="Microsoft YaHei"/>
                </a:defRPr>
              </a:pPr>
              <a:r>
                <a:rPr sz="1100"/>
                <a:t>顶级评审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9372600" y="2788920"/>
              <a:ext cx="2331719" cy="7344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0">
                  <a:solidFill>
                    <a:srgbClr val="FFFFFF"/>
                  </a:solidFill>
                  <a:latin typeface="Microsoft YaHei"/>
                </a:defRPr>
              </a:pPr>
              <a:r>
                <a:rPr sz="1050"/>
                <a:t>一字不符 → 0 分</a:t>
              </a:r>
              <a:br>
                <a:rPr sz="1050"/>
              </a:br>
              <a:r>
                <a:rPr sz="1050"/>
                <a:t>平庸 ≤ 4 分</a:t>
              </a:r>
              <a:br>
                <a:rPr sz="1050"/>
              </a:br>
              <a:r>
                <a:rPr sz="1050"/>
                <a:t>套话 ≤ 2 分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9372600" y="4206240"/>
              <a:ext cx="2331719" cy="5508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1">
                  <a:solidFill>
                    <a:srgbClr val="EF4444"/>
                  </a:solidFill>
                  <a:latin typeface="Microsoft YaHei"/>
                </a:defRPr>
              </a:pPr>
              <a:r>
                <a:rPr sz="1000" dirty="0"/>
                <a:t>passed: structure=10 </a:t>
              </a:r>
              <a:r>
                <a:rPr sz="1000" dirty="0" err="1"/>
                <a:t>且无</a:t>
              </a:r>
              <a:r>
                <a:rPr sz="1000" dirty="0"/>
                <a:t> high</a:t>
              </a: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548640" y="5413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18CF8"/>
                </a:solidFill>
                <a:latin typeface="Microsoft YaHei"/>
              </a:defRPr>
            </a:pPr>
            <a:r>
              <a:rPr dirty="0" err="1"/>
              <a:t>严格度不只是附加描述，而是直接覆盖</a:t>
            </a:r>
            <a:r>
              <a:rPr dirty="0"/>
              <a:t> Critic </a:t>
            </a:r>
            <a:r>
              <a:rPr dirty="0" err="1"/>
              <a:t>的核心评分阈值与</a:t>
            </a:r>
            <a:r>
              <a:rPr dirty="0"/>
              <a:t> passed </a:t>
            </a:r>
            <a:r>
              <a:rPr dirty="0" err="1"/>
              <a:t>判定规则</a:t>
            </a:r>
            <a:endParaRPr dirty="0"/>
          </a:p>
        </p:txBody>
      </p:sp>
      <p:pic>
        <p:nvPicPr>
          <p:cNvPr id="31" name="Picture 30" descr="05-advanced-set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6805" y="1737360"/>
            <a:ext cx="4357617" cy="31161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48640"/>
            <a:ext cx="73152" cy="54864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技术实现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icrosoft YaHei"/>
              </a:defRPr>
            </a:pPr>
            <a:r>
              <a:t>Tech Stack &amp; Key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0"/>
            <a:ext cx="11064240" cy="300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18CF8"/>
                </a:solidFill>
                <a:latin typeface="Microsoft YaHei"/>
              </a:defRPr>
            </a:pPr>
            <a:r>
              <a:t>技术栈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818CF8"/>
                </a:solidFill>
                <a:latin typeface="Microsoft YaHei"/>
              </a:rPr>
              <a:t>● </a:t>
            </a:r>
            <a:r>
              <a:rPr sz="1500">
                <a:solidFill>
                  <a:srgbClr val="FFFFFF"/>
                </a:solidFill>
                <a:latin typeface="Microsoft YaHei"/>
              </a:rPr>
              <a:t>Next.js 14 App Router + TypeScript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818CF8"/>
                </a:solidFill>
                <a:latin typeface="Microsoft YaHei"/>
              </a:rPr>
              <a:t>● </a:t>
            </a:r>
            <a:r>
              <a:rPr sz="1500">
                <a:solidFill>
                  <a:srgbClr val="FFFFFF"/>
                </a:solidFill>
                <a:latin typeface="Microsoft YaHei"/>
              </a:rPr>
              <a:t>Tailwind CSS 响应式样式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818CF8"/>
                </a:solidFill>
                <a:latin typeface="Microsoft YaHei"/>
              </a:rPr>
              <a:t>● </a:t>
            </a:r>
            <a:r>
              <a:rPr sz="1500">
                <a:solidFill>
                  <a:srgbClr val="FFFFFF"/>
                </a:solidFill>
                <a:latin typeface="Microsoft YaHei"/>
              </a:rPr>
              <a:t>OpenAI SDK（支持自定义 baseURL）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818CF8"/>
                </a:solidFill>
                <a:latin typeface="Microsoft YaHei"/>
              </a:rPr>
              <a:t>● </a:t>
            </a:r>
            <a:r>
              <a:rPr sz="1500">
                <a:solidFill>
                  <a:srgbClr val="FFFFFF"/>
                </a:solidFill>
                <a:latin typeface="Microsoft YaHei"/>
              </a:rPr>
              <a:t>Server-Sent Events 流式推送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818CF8"/>
                </a:solidFill>
                <a:latin typeface="Microsoft YaHei"/>
              </a:rPr>
              <a:t>● </a:t>
            </a:r>
            <a:r>
              <a:rPr sz="1500">
                <a:solidFill>
                  <a:srgbClr val="FFFFFF"/>
                </a:solidFill>
                <a:latin typeface="Microsoft YaHei"/>
              </a:rPr>
              <a:t>Electron 31 + electron-builder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818CF8"/>
                </a:solidFill>
                <a:latin typeface="Microsoft YaHei"/>
              </a:rPr>
              <a:t>● </a:t>
            </a:r>
            <a:r>
              <a:rPr sz="1500">
                <a:solidFill>
                  <a:srgbClr val="FFFFFF"/>
                </a:solidFill>
                <a:latin typeface="Microsoft YaHei"/>
              </a:rPr>
              <a:t>Next.js standalone 独立部署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18CF8"/>
                </a:solidFill>
                <a:latin typeface="Microsoft YaHei"/>
              </a:defRPr>
            </a:pPr>
            <a:r>
              <a:t>关键工程特性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818CF8"/>
                </a:solidFill>
                <a:latin typeface="Microsoft YaHei"/>
              </a:rPr>
              <a:t>● </a:t>
            </a:r>
            <a:r>
              <a:rPr sz="1500">
                <a:solidFill>
                  <a:srgbClr val="FFFFFF"/>
                </a:solidFill>
                <a:latin typeface="Microsoft YaHei"/>
              </a:rPr>
              <a:t>词格字数最高优先（所有 prompt 第一条）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818CF8"/>
                </a:solidFill>
                <a:latin typeface="Microsoft YaHei"/>
              </a:rPr>
              <a:t>● </a:t>
            </a:r>
            <a:r>
              <a:rPr sz="1500">
                <a:solidFill>
                  <a:srgbClr val="FFFFFF"/>
                </a:solidFill>
                <a:latin typeface="Microsoft YaHei"/>
              </a:rPr>
              <a:t>纯字数修复独立 5 轮，不计入主迭代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818CF8"/>
                </a:solidFill>
                <a:latin typeface="Microsoft YaHei"/>
              </a:rPr>
              <a:t>● </a:t>
            </a:r>
            <a:r>
              <a:rPr sz="1500">
                <a:solidFill>
                  <a:srgbClr val="FFFFFF"/>
                </a:solidFill>
                <a:latin typeface="Microsoft YaHei"/>
              </a:rPr>
              <a:t>超时自动重试 5 次（指数退避 1→2→4→8→16s）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818CF8"/>
                </a:solidFill>
                <a:latin typeface="Microsoft YaHei"/>
              </a:rPr>
              <a:t>● </a:t>
            </a:r>
            <a:r>
              <a:rPr sz="1500">
                <a:solidFill>
                  <a:srgbClr val="FFFFFF"/>
                </a:solidFill>
                <a:latin typeface="Microsoft YaHei"/>
              </a:rPr>
              <a:t>AbortController 中止生成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818CF8"/>
                </a:solidFill>
                <a:latin typeface="Microsoft YaHei"/>
              </a:rPr>
              <a:t>● </a:t>
            </a:r>
            <a:r>
              <a:rPr sz="1500">
                <a:solidFill>
                  <a:srgbClr val="FFFFFF"/>
                </a:solidFill>
                <a:latin typeface="Microsoft YaHei"/>
              </a:rPr>
              <a:t>自动扩写提示词（✦ 帮写按钮）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818CF8"/>
                </a:solidFill>
                <a:latin typeface="Microsoft YaHei"/>
              </a:rPr>
              <a:t>● </a:t>
            </a:r>
            <a:r>
              <a:rPr sz="1500">
                <a:solidFill>
                  <a:srgbClr val="FFFFFF"/>
                </a:solidFill>
                <a:latin typeface="Microsoft YaHei"/>
              </a:rPr>
              <a:t>单句点击修改（保持字数不变）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160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18CF8"/>
                </a:solidFill>
                <a:latin typeface="Microsoft YaHei"/>
              </a:defRPr>
            </a:pPr>
            <a:r>
              <a:t>支持的大模型服务商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6177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 dirty="0">
                <a:solidFill>
                  <a:srgbClr val="818CF8"/>
                </a:solidFill>
                <a:latin typeface="Microsoft YaHei"/>
              </a:rPr>
              <a:t>● </a:t>
            </a:r>
            <a:r>
              <a:rPr sz="1400" dirty="0" err="1">
                <a:solidFill>
                  <a:srgbClr val="FFFFFF"/>
                </a:solidFill>
                <a:latin typeface="Microsoft YaHei"/>
              </a:rPr>
              <a:t>Pollinations（免费免注册</a:t>
            </a:r>
            <a:r>
              <a:rPr sz="1400" dirty="0">
                <a:solidFill>
                  <a:srgbClr val="FFFFFF"/>
                </a:solidFill>
                <a:latin typeface="Microsoft YaHei"/>
              </a:rPr>
              <a:t>）</a:t>
            </a: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818CF8"/>
                </a:solidFill>
                <a:latin typeface="Microsoft YaHei"/>
              </a:rPr>
              <a:t>● </a:t>
            </a:r>
            <a:r>
              <a:rPr sz="1400" dirty="0" err="1">
                <a:solidFill>
                  <a:srgbClr val="FFFFFF"/>
                </a:solidFill>
                <a:latin typeface="Microsoft YaHei"/>
              </a:rPr>
              <a:t>OpenAI</a:t>
            </a:r>
            <a:r>
              <a:rPr sz="1400" dirty="0">
                <a:solidFill>
                  <a:srgbClr val="FFFFFF"/>
                </a:solidFill>
                <a:latin typeface="Microsoft YaHei"/>
              </a:rPr>
              <a:t> · </a:t>
            </a:r>
            <a:r>
              <a:rPr sz="1400" dirty="0" err="1">
                <a:solidFill>
                  <a:srgbClr val="FFFFFF"/>
                </a:solidFill>
                <a:latin typeface="Microsoft YaHei"/>
              </a:rPr>
              <a:t>DeepSeek</a:t>
            </a:r>
            <a:r>
              <a:rPr sz="1400" dirty="0">
                <a:solidFill>
                  <a:srgbClr val="FFFFFF"/>
                </a:solidFill>
                <a:latin typeface="Microsoft YaHei"/>
              </a:rPr>
              <a:t> · Kimi · </a:t>
            </a:r>
            <a:r>
              <a:rPr sz="1400" dirty="0" err="1">
                <a:solidFill>
                  <a:srgbClr val="FFFFFF"/>
                </a:solidFill>
                <a:latin typeface="Microsoft YaHei"/>
              </a:rPr>
              <a:t>通义千问</a:t>
            </a:r>
            <a:endParaRPr sz="1400" dirty="0">
              <a:solidFill>
                <a:srgbClr val="FFFFFF"/>
              </a:solidFill>
              <a:latin typeface="Microsoft YaHei"/>
            </a:endParaRP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818CF8"/>
                </a:solidFill>
                <a:latin typeface="Microsoft YaHei"/>
              </a:rPr>
              <a:t>● </a:t>
            </a:r>
            <a:r>
              <a:rPr sz="1400" dirty="0" err="1">
                <a:solidFill>
                  <a:srgbClr val="FFFFFF"/>
                </a:solidFill>
                <a:latin typeface="Microsoft YaHei"/>
              </a:rPr>
              <a:t>智谱</a:t>
            </a:r>
            <a:r>
              <a:rPr sz="1400" dirty="0">
                <a:solidFill>
                  <a:srgbClr val="FFFFFF"/>
                </a:solidFill>
                <a:latin typeface="Microsoft YaHei"/>
              </a:rPr>
              <a:t> GLM · </a:t>
            </a:r>
            <a:r>
              <a:rPr sz="1400" dirty="0" err="1">
                <a:solidFill>
                  <a:srgbClr val="FFFFFF"/>
                </a:solidFill>
                <a:latin typeface="Microsoft YaHei"/>
              </a:rPr>
              <a:t>SiliconFlow</a:t>
            </a:r>
            <a:r>
              <a:rPr sz="1400" dirty="0">
                <a:solidFill>
                  <a:srgbClr val="FFFFFF"/>
                </a:solidFill>
                <a:latin typeface="Microsoft YaHei"/>
              </a:rPr>
              <a:t> · </a:t>
            </a:r>
            <a:r>
              <a:rPr sz="1400" dirty="0" err="1">
                <a:solidFill>
                  <a:srgbClr val="FFFFFF"/>
                </a:solidFill>
                <a:latin typeface="Microsoft YaHei"/>
              </a:rPr>
              <a:t>OpenRouter</a:t>
            </a:r>
            <a:endParaRPr sz="1400" dirty="0">
              <a:solidFill>
                <a:srgbClr val="FFFFFF"/>
              </a:solidFill>
              <a:latin typeface="Microsoft YaHei"/>
            </a:endParaRP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818CF8"/>
                </a:solidFill>
                <a:latin typeface="Microsoft YaHei"/>
              </a:rPr>
              <a:t>● </a:t>
            </a:r>
            <a:r>
              <a:rPr sz="1400" dirty="0" err="1">
                <a:solidFill>
                  <a:srgbClr val="FFFFFF"/>
                </a:solidFill>
                <a:latin typeface="Microsoft YaHei"/>
              </a:rPr>
              <a:t>商汤日日新</a:t>
            </a:r>
            <a:r>
              <a:rPr sz="1400" dirty="0">
                <a:solidFill>
                  <a:srgbClr val="FFFFFF"/>
                </a:solidFill>
                <a:latin typeface="Microsoft YaHei"/>
              </a:rPr>
              <a:t> </a:t>
            </a:r>
            <a:r>
              <a:rPr sz="1400" dirty="0" err="1">
                <a:solidFill>
                  <a:srgbClr val="FFFFFF"/>
                </a:solidFill>
                <a:latin typeface="Microsoft YaHei"/>
              </a:rPr>
              <a:t>SenseNova（公测免费</a:t>
            </a:r>
            <a:r>
              <a:rPr sz="1400" dirty="0">
                <a:solidFill>
                  <a:srgbClr val="FFFFFF"/>
                </a:solidFill>
                <a:latin typeface="Microsoft YaHei"/>
              </a:rPr>
              <a:t>）</a:t>
            </a: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818CF8"/>
                </a:solidFill>
                <a:latin typeface="Microsoft YaHei"/>
              </a:rPr>
              <a:t>● </a:t>
            </a:r>
            <a:r>
              <a:rPr sz="1400" dirty="0" err="1">
                <a:solidFill>
                  <a:srgbClr val="FFFFFF"/>
                </a:solidFill>
                <a:latin typeface="Microsoft YaHei"/>
              </a:rPr>
              <a:t>自定义</a:t>
            </a:r>
            <a:r>
              <a:rPr sz="1400" dirty="0">
                <a:solidFill>
                  <a:srgbClr val="FFFFFF"/>
                </a:solidFill>
                <a:latin typeface="Microsoft YaHei"/>
              </a:rPr>
              <a:t> </a:t>
            </a:r>
            <a:r>
              <a:rPr sz="1400" dirty="0" err="1">
                <a:solidFill>
                  <a:srgbClr val="FFFFFF"/>
                </a:solidFill>
                <a:latin typeface="Microsoft YaHei"/>
              </a:rPr>
              <a:t>OpenAI</a:t>
            </a:r>
            <a:r>
              <a:rPr sz="1400" dirty="0">
                <a:solidFill>
                  <a:srgbClr val="FFFFFF"/>
                </a:solidFill>
                <a:latin typeface="Microsoft YaHei"/>
              </a:rPr>
              <a:t> </a:t>
            </a:r>
            <a:r>
              <a:rPr sz="1400" dirty="0" err="1">
                <a:solidFill>
                  <a:srgbClr val="FFFFFF"/>
                </a:solidFill>
                <a:latin typeface="Microsoft YaHei"/>
              </a:rPr>
              <a:t>兼容接口</a:t>
            </a:r>
            <a:endParaRPr sz="1400" dirty="0">
              <a:solidFill>
                <a:srgbClr val="FFFFFF"/>
              </a:solidFill>
              <a:latin typeface="Microsoft Ya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48640"/>
            <a:ext cx="73152" cy="54864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桌面安装包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icrosoft YaHei"/>
              </a:defRPr>
            </a:pPr>
            <a:r>
              <a:t>Windows .exe · 开箱即用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0"/>
            <a:ext cx="11064240" cy="300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18CF8"/>
                </a:solidFill>
                <a:latin typeface="Microsoft YaHei"/>
              </a:defRPr>
            </a:pPr>
            <a:r>
              <a:t>无需预装任何依赖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818CF8"/>
                </a:solidFill>
                <a:latin typeface="Microsoft YaHei"/>
              </a:rPr>
              <a:t>● </a:t>
            </a:r>
            <a:r>
              <a:rPr sz="1500">
                <a:solidFill>
                  <a:srgbClr val="FFFFFF"/>
                </a:solidFill>
                <a:latin typeface="Microsoft YaHei"/>
              </a:rPr>
              <a:t>✅ 双击 .exe 直接安装运行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818CF8"/>
                </a:solidFill>
                <a:latin typeface="Microsoft YaHei"/>
              </a:rPr>
              <a:t>● </a:t>
            </a:r>
            <a:r>
              <a:rPr sz="1500">
                <a:solidFill>
                  <a:srgbClr val="FFFFFF"/>
                </a:solidFill>
                <a:latin typeface="Microsoft YaHei"/>
              </a:rPr>
              <a:t>✅ 内置 Node.js 运行时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818CF8"/>
                </a:solidFill>
                <a:latin typeface="Microsoft YaHei"/>
              </a:rPr>
              <a:t>● </a:t>
            </a:r>
            <a:r>
              <a:rPr sz="1500">
                <a:solidFill>
                  <a:srgbClr val="FFFFFF"/>
                </a:solidFill>
                <a:latin typeface="Microsoft YaHei"/>
              </a:rPr>
              <a:t>✅ 内置 Chromium 浏览器引擎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818CF8"/>
                </a:solidFill>
                <a:latin typeface="Microsoft YaHei"/>
              </a:rPr>
              <a:t>● </a:t>
            </a:r>
            <a:r>
              <a:rPr sz="1500">
                <a:solidFill>
                  <a:srgbClr val="FFFFFF"/>
                </a:solidFill>
                <a:latin typeface="Microsoft YaHei"/>
              </a:rPr>
              <a:t>✅ 无 120 秒超时限制（本地服务）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818CF8"/>
                </a:solidFill>
                <a:latin typeface="Microsoft YaHei"/>
              </a:rPr>
              <a:t>● </a:t>
            </a:r>
            <a:r>
              <a:rPr sz="1500">
                <a:solidFill>
                  <a:srgbClr val="FFFFFF"/>
                </a:solidFill>
                <a:latin typeface="Microsoft YaHei"/>
              </a:rPr>
              <a:t>✅ 本地 API Key 存储，更安全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818CF8"/>
                </a:solidFill>
                <a:latin typeface="Microsoft YaHei"/>
              </a:rPr>
              <a:t>● </a:t>
            </a:r>
            <a:r>
              <a:rPr sz="1500">
                <a:solidFill>
                  <a:srgbClr val="FFFFFF"/>
                </a:solidFill>
                <a:latin typeface="Microsoft YaHei"/>
              </a:rPr>
              <a:t>✅ 桌面快捷方式自动创建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818CF8"/>
                </a:solidFill>
                <a:latin typeface="Microsoft YaHei"/>
              </a:rPr>
              <a:t>● </a:t>
            </a:r>
            <a:r>
              <a:rPr sz="1500">
                <a:solidFill>
                  <a:srgbClr val="FFFFFF"/>
                </a:solidFill>
                <a:latin typeface="Microsoft YaHei"/>
              </a:rPr>
              <a:t>✅ 支持卸载清理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554480"/>
            <a:ext cx="5303520" cy="3200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18CF8"/>
                </a:solidFill>
                <a:latin typeface="Microsoft YaHei"/>
              </a:defRPr>
            </a:pPr>
            <a:r>
              <a:t>📦 安装包信息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2860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文件名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286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小词格 Setup 1.0.0.exe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6974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大小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6974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~122 MB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1089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格式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1089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NSIS 安装程序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520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架构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35204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x64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931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版本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3931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v1.0.0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846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18CF8"/>
                </a:solidFill>
                <a:latin typeface="Microsoft YaHei"/>
              </a:defRPr>
            </a:pPr>
            <a:r>
              <a:t>作者主页集成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3035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818CF8"/>
                </a:solidFill>
                <a:latin typeface="Microsoft YaHei"/>
              </a:rPr>
              <a:t>● </a:t>
            </a:r>
            <a:r>
              <a:rPr sz="1400">
                <a:solidFill>
                  <a:srgbClr val="FFFFFF"/>
                </a:solidFill>
                <a:latin typeface="Microsoft YaHei"/>
              </a:rPr>
              <a:t>📺 安装程序品牌栏显示作者主页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818CF8"/>
                </a:solidFill>
                <a:latin typeface="Microsoft YaHei"/>
              </a:rPr>
              <a:t>● </a:t>
            </a:r>
            <a:r>
              <a:rPr sz="1400">
                <a:solidFill>
                  <a:srgbClr val="FFFFFF"/>
                </a:solidFill>
                <a:latin typeface="Microsoft YaHei"/>
              </a:rPr>
              <a:t>📺 应用菜单：帮助 → 作者哔哩哔哩主页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818CF8"/>
                </a:solidFill>
                <a:latin typeface="Microsoft YaHei"/>
              </a:rPr>
              <a:t>● </a:t>
            </a:r>
            <a:r>
              <a:rPr sz="1400">
                <a:solidFill>
                  <a:srgbClr val="FFFFFF"/>
                </a:solidFill>
                <a:latin typeface="Microsoft YaHei"/>
              </a:rPr>
              <a:t>📺 关于对话框带「打开主页」按钮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818CF8"/>
                </a:solidFill>
                <a:latin typeface="Microsoft YaHei"/>
              </a:rPr>
              <a:t>● </a:t>
            </a:r>
            <a:r>
              <a:rPr sz="1400">
                <a:solidFill>
                  <a:srgbClr val="FFFFFF"/>
                </a:solidFill>
                <a:latin typeface="Microsoft YaHei"/>
              </a:rPr>
              <a:t>📺 卸载完成弹窗显示主页链接</a:t>
            </a:r>
          </a:p>
        </p:txBody>
      </p:sp>
      <p:pic>
        <p:nvPicPr>
          <p:cNvPr id="22" name="Picture 21" descr="06-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4846320"/>
            <a:ext cx="5303520" cy="16459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48640"/>
            <a:ext cx="73152" cy="54864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项目总结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icrosoft YaHei"/>
              </a:defRPr>
            </a:pPr>
            <a:r>
              <a:t>What We've Built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0"/>
            <a:ext cx="11064240" cy="300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65760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0">
                <a:solidFill>
                  <a:srgbClr val="818CF8"/>
                </a:solidFill>
                <a:latin typeface="Microsoft YaHei"/>
              </a:defRPr>
            </a:pPr>
            <a:r>
              <a:t>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2860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智能生成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260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四个 AI 智能体协作</a:t>
            </a:r>
            <a:br/>
            <a:r>
              <a:t>自动迭代产出高质量歌词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365760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440" y="210312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0">
                <a:solidFill>
                  <a:srgbClr val="34D399"/>
                </a:solidFill>
                <a:latin typeface="Microsoft YaHei"/>
              </a:defRPr>
            </a:pPr>
            <a:r>
              <a:t>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2860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词格精准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9260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逐音节匹配词格</a:t>
            </a:r>
            <a:br/>
            <a:r>
              <a:t>支持延音 + 与英语音节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828800"/>
            <a:ext cx="365760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03920" y="210312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0">
                <a:solidFill>
                  <a:srgbClr val="FB923C"/>
                </a:solidFill>
                <a:latin typeface="Microsoft YaHei"/>
              </a:defRPr>
            </a:pPr>
            <a:r>
              <a:t>🖥️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22860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桌面体验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9260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Windows 原生安装包</a:t>
            </a:r>
            <a:br/>
            <a:r>
              <a:t>SSE 流式 + 中止控制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5720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18CF8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2120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AI 智能体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45720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18CF8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52120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严格度等级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59" y="45720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18CF8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59" y="52120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评审维度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19" y="45720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18CF8"/>
                </a:solidFill>
                <a:latin typeface="Microsoft YaHei"/>
              </a:defRPr>
            </a:pPr>
            <a:r>
              <a:t>5+5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19" y="52120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字数修复轮次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45720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18CF8"/>
                </a:solidFill>
                <a:latin typeface="Microsoft YaHei"/>
              </a:defRPr>
            </a:pPr>
            <a:r>
              <a:t>122MB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52120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安装包大小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48640"/>
            <a:ext cx="73152" cy="54864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实机演示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icrosoft YaHei"/>
              </a:defRPr>
            </a:pPr>
            <a:r>
              <a:t>Real Product Screenshots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0"/>
            <a:ext cx="11064240" cy="300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01-main-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3657600" cy="2011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3749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主界面</a:t>
            </a:r>
          </a:p>
        </p:txBody>
      </p:sp>
      <p:pic>
        <p:nvPicPr>
          <p:cNvPr id="8" name="Picture 7" descr="02-advanced-edi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645920"/>
            <a:ext cx="3657600" cy="2011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343400" y="3749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高级编辑</a:t>
            </a:r>
          </a:p>
        </p:txBody>
      </p:sp>
      <p:pic>
        <p:nvPicPr>
          <p:cNvPr id="10" name="Picture 9" descr="03-rhythm-ta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645920"/>
            <a:ext cx="3657600" cy="20116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138160" y="3749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节奏标记</a:t>
            </a:r>
          </a:p>
        </p:txBody>
      </p:sp>
      <p:pic>
        <p:nvPicPr>
          <p:cNvPr id="12" name="Picture 11" descr="04-english-mo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114800"/>
            <a:ext cx="3657600" cy="20116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62179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英语模式</a:t>
            </a:r>
          </a:p>
        </p:txBody>
      </p:sp>
      <p:pic>
        <p:nvPicPr>
          <p:cNvPr id="14" name="Picture 13" descr="05-advanced-setting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3400" y="4114800"/>
            <a:ext cx="3657600" cy="20116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343400" y="62179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高级设置</a:t>
            </a:r>
          </a:p>
        </p:txBody>
      </p:sp>
      <p:pic>
        <p:nvPicPr>
          <p:cNvPr id="16" name="Picture 15" descr="06-foot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8160" y="4114800"/>
            <a:ext cx="3657600" cy="20116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138160" y="62179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底部区域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Microsoft YaHei"/>
              </a:defRPr>
            </a:pPr>
            <a:r>
              <a:rPr dirty="0" err="1"/>
              <a:t>感谢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292608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818CF8"/>
                </a:solidFill>
                <a:latin typeface="Microsoft YaHei"/>
              </a:defRPr>
            </a:pPr>
            <a:r>
              <a:t>Thank You for Your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Microsoft YaHei"/>
              </a:defRPr>
            </a:pPr>
            <a:r>
              <a:t>欢迎关注我的哔哩哔哩频道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38912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818CF8"/>
                </a:solidFill>
                <a:latin typeface="Microsoft YaHei"/>
              </a:defRPr>
            </a:pPr>
            <a:r>
              <a:t>space.bilibili.com/527121484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66928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小词格 · AI 歌词生成器  |  v1.0.0  |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672</Words>
  <Application>Microsoft Office PowerPoint</Application>
  <PresentationFormat>宽屏</PresentationFormat>
  <Paragraphs>208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7" baseType="lpstr">
      <vt:lpstr>Microsoft YaHei</vt:lpstr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/>
  <dc:description>generated using python-pptx</dc:description>
  <cp:lastModifiedBy>Ruki_official 柳青</cp:lastModifiedBy>
  <cp:revision>3</cp:revision>
  <dcterms:created xsi:type="dcterms:W3CDTF">2013-01-27T09:14:16Z</dcterms:created>
  <dcterms:modified xsi:type="dcterms:W3CDTF">2026-08-26T04:46:21Z</dcterms:modified>
  <cp:category/>
</cp:coreProperties>
</file>